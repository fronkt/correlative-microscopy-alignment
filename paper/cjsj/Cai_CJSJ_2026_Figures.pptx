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 id="257" r:id="rId7"/>
    <p:sldId id="258" r:id="rId8"/>
    <p:sldId id="259" r:id="rId9"/>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r>
              <a:t>Which Automatic Image Registrations Can a Microscopist Trust?</a:t>
            </a:r>
          </a:p>
        </p:txBody>
      </p:sp>
      <p:sp>
        <p:nvSpPr>
          <p:cNvPr id="55" name="Google Shape;55;p13"/>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r>
              <a:t>Figures. Frank Cai, 2026-2027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
          </p:nvPr>
        </p:nvSpPr>
        <p:spPr>
          <a:xfrm>
            <a:off x="311700" y="4380000"/>
            <a:ext cx="8520600" cy="700000"/>
          </a:xfrm>
        </p:spPr>
        <p:txBody>
          <a:bodyPr wrap="square"/>
          <a:lstStyle/>
          <a:p>
            <a:r>
              <a:rPr sz="800">
                <a:latin typeface="Times New Roman"/>
              </a:rPr>
              <a:t>Figure 1.	(a) The triage procedure supported by this study. (b–d) Three MatchAnything-RoMa registrations chosen by a fixed rule: the correct registration with the highest retained fraction S1 (b), the failed registration with the highest S1 (c), and the failed registration with the lowest S1 (d). Each panel shows the wide image, the true outline of the narrow image (yellow) and where the registration placed it (dashed; green, correct; vermillion, wrong). Panel (c) is one of the confident failures on transmission electron microscope images of the MoTaTiZrHf alloy discussed in the text. Images from the AmalgaMatch benchmark, Durmaz et al., CC BY 4.0.</a:t>
            </a:r>
          </a:p>
        </p:txBody>
      </p:sp>
      <p:pic>
        <p:nvPicPr>
          <p:cNvPr id="4" name="Picture 3" descr="fig1_method_examples.png"/>
          <p:cNvPicPr>
            <a:picLocks noChangeAspect="1"/>
          </p:cNvPicPr>
          <p:nvPr/>
        </p:nvPicPr>
        <p:blipFill>
          <a:blip r:embed="rId2"/>
          <a:stretch>
            <a:fillRect/>
          </a:stretch>
        </p:blipFill>
        <p:spPr>
          <a:xfrm>
            <a:off x="345125" y="122975"/>
            <a:ext cx="8453750" cy="422687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
          </p:nvPr>
        </p:nvSpPr>
        <p:spPr>
          <a:xfrm>
            <a:off x="311700" y="4380000"/>
            <a:ext cx="8520600" cy="700000"/>
          </a:xfrm>
        </p:spPr>
        <p:txBody>
          <a:bodyPr wrap="square"/>
          <a:lstStyle/>
          <a:p>
            <a:r>
              <a:rPr sz="800">
                <a:latin typeface="Times New Roman"/>
              </a:rPr>
              <a:t>Figure 2.	Registration error of MatchAnything-RoMa against its retained fraction S1 for all 187 pairs, by task group. The dashed line marks the 20-pixel success criterion; the dotted line is the cut-off chosen on the two starred groups and applied unchanged to the other four. The vertical axis is logarithmic.</a:t>
            </a:r>
          </a:p>
        </p:txBody>
      </p:sp>
      <p:pic>
        <p:nvPicPr>
          <p:cNvPr id="4" name="Picture 3" descr="fig2_retained_fraction.png"/>
          <p:cNvPicPr>
            <a:picLocks noChangeAspect="1"/>
          </p:cNvPicPr>
          <p:nvPr/>
        </p:nvPicPr>
        <p:blipFill>
          <a:blip r:embed="rId2"/>
          <a:stretch>
            <a:fillRect/>
          </a:stretch>
        </p:blipFill>
        <p:spPr>
          <a:xfrm>
            <a:off x="1808274" y="122975"/>
            <a:ext cx="5527451" cy="4226875"/>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Placeholder 2"/>
          <p:cNvSpPr>
            <a:spLocks noGrp="1"/>
          </p:cNvSpPr>
          <p:nvPr>
            <p:ph type="body" idx="1"/>
          </p:nvPr>
        </p:nvSpPr>
        <p:spPr>
          <a:xfrm>
            <a:off x="311700" y="4380000"/>
            <a:ext cx="8520600" cy="700000"/>
          </a:xfrm>
        </p:spPr>
        <p:txBody>
          <a:bodyPr wrap="square"/>
          <a:lstStyle/>
          <a:p>
            <a:r>
              <a:rPr sz="800">
                <a:latin typeface="Times New Roman"/>
              </a:rPr>
              <a:t>Figure 3.	(a) Share of accepted MatchAnything-RoMa registrations that are correct when pairs are accepted in order of score, for the retained fraction (S1) and the combined score (S3), against accepting everything (dashed). (b) Number of the 187 pairs registered within 20 pixels by the best single method (MatchAnything-RoMa in the zoom search, chosen on the same data), by choosing one of the 15 registrations per pair with each score (S1 retained fraction, S2 agreement, S3 combined), and by an oracle that always picks a correct registration when one exists.</a:t>
            </a:r>
          </a:p>
        </p:txBody>
      </p:sp>
      <p:pic>
        <p:nvPicPr>
          <p:cNvPr id="4" name="Picture 3" descr="fig3_triage_selection.png"/>
          <p:cNvPicPr>
            <a:picLocks noChangeAspect="1"/>
          </p:cNvPicPr>
          <p:nvPr/>
        </p:nvPicPr>
        <p:blipFill>
          <a:blip r:embed="rId2"/>
          <a:stretch>
            <a:fillRect/>
          </a:stretch>
        </p:blipFill>
        <p:spPr>
          <a:xfrm>
            <a:off x="311700" y="670126"/>
            <a:ext cx="8520600" cy="3132573"/>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